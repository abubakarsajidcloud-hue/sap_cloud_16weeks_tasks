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 slide. Introduce the objective: understanding how major automotive companies use SAP for digital transformation. Mention this is a hands-on research task covering beginner, intermediate, and advanced levels.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what SAP is to anyone unfamiliar. Key message: SAP S/4HANA is the industry standard for large manufacturers. The 2027 deadline is forcing all companies using old SAP ECC to migrate to S/4HANA.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the research steps. Key insight: Toyota's adoption is not just one country — it is a global, multi-phase SAP transformation covering finance, HR, vehicle management, and parts systems. IBM is the implementation partner. Source: SAP Africa News Center, November 2025.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Discuss similarities: all three are doing S/4HANA upgrades. Differences: VW is the largest in scope (entire group of brands). Tata Motors is using its sister company (Tata Technologies) as the SAP implementation partner for JLR. Toyota is working with IBM.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VW's transformation is one of the largest in the world. The Transformation Factory concept means they are treating S/4HANA migration not as a one-time project but as a continuous capability they are building internally. Source: Natuvion press release, April &amp; September 2025.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are the core SAP modules used by automotive OEMs. Each module integrates with the others on the S/4HANA platform. For example, when a vehicle is sold (SD), it triggers inventory updates (MM), financial posting (FI), and production orders for replacement stock (PP) — all in real time.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framework applies to all three companies. The key strategic choice is Brownfield (preserve &amp; upgrade existing processes) vs Greenfield (start fresh). Brownfield is less risky and faster. Toyota and VW chose Brownfield. The 2027 deadline means companies must already be in phase 1-2 now.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Wrap up the presentation with these six takeaways. Emphasize the career angle: SAP skills are among the highest-paid enterprise skills in the world. For a Cloud/DevOps engineer, understanding SAP's cloud strategy (RISE with SAP, SAP on AWS/Azure) is increasingly valuable.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here. The most relevant connection for your Cloud/DevOps career: SAP S/4HANA runs on AWS, Azure, and GCP. Companies need cloud engineers who understand SAP workloads. RISE with SAP is SAP's SaaS offering — it is essentially SAP managed on cloud infrastructure, and DevOps practices are being applied to SAP deployments increasingly.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32320" y="-1097280"/>
            <a:ext cx="3657600" cy="3657600"/>
          </a:xfrm>
          <a:prstGeom prst="ellipse">
            <a:avLst/>
          </a:prstGeom>
          <a:solidFill>
            <a:srgbClr val="028090">
              <a:alpha val="25000"/>
            </a:srgbClr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960120"/>
            <a:ext cx="4572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 RESEARCH TASK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1325880"/>
            <a:ext cx="777240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Automotive Industry</a:t>
            </a:r>
            <a:endParaRPr lang="en-US" sz="3600" dirty="0"/>
          </a:p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Digital Transformation</a:t>
            </a:r>
            <a:endParaRPr lang="en-US" sz="3600" dirty="0"/>
          </a:p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Using SAP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548640" y="3794760"/>
            <a:ext cx="3200400" cy="36576"/>
          </a:xfrm>
          <a:prstGeom prst="rect">
            <a:avLst/>
          </a:prstGeom>
          <a:solidFill>
            <a:srgbClr val="E8871E"/>
          </a:solidFill>
          <a:ln w="12700">
            <a:solidFill>
              <a:srgbClr val="E8871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39776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Companies Researched: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Toyota  ·  Volkswagen  ·  Tata Motors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8640" y="43891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SAP S/4HANA  |  ERP Transformation  |  Industry Research  |  2025–2026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45720"/>
            <a:ext cx="8412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SAP? — The ERP Backbone of Modern Manufacturing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1143000"/>
            <a:ext cx="2651760" cy="1051560"/>
          </a:xfrm>
          <a:prstGeom prst="roundRect">
            <a:avLst>
              <a:gd name="adj" fmla="val 8696"/>
            </a:avLst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1170432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SAP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320040" y="2176272"/>
            <a:ext cx="265176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3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11480" y="2212848"/>
            <a:ext cx="2468880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Systems, Applications &amp; Products in Data Processing. World's leading ERP software vendor, headquartered in Walldorf, Germany.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154680" y="1143000"/>
            <a:ext cx="2651760" cy="1051560"/>
          </a:xfrm>
          <a:prstGeom prst="roundRect">
            <a:avLst>
              <a:gd name="adj" fmla="val 8696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154680" y="1170432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ERP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3154680" y="2176272"/>
            <a:ext cx="265176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3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246120" y="2212848"/>
            <a:ext cx="2468880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Resource Planning — software that integrates all core business processes: finance, HR, supply chain, manufacturing, procurement.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989320" y="1143000"/>
            <a:ext cx="2651760" cy="1051560"/>
          </a:xfrm>
          <a:prstGeom prst="roundRect">
            <a:avLst>
              <a:gd name="adj" fmla="val 8696"/>
            </a:avLst>
          </a:prstGeom>
          <a:solidFill>
            <a:srgbClr val="E8871E"/>
          </a:solidFill>
          <a:ln w="12700">
            <a:solidFill>
              <a:srgbClr val="E8871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89320" y="1170432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S/4HANA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5989320" y="2176272"/>
            <a:ext cx="265176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3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080760" y="2212848"/>
            <a:ext cx="2468880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SAP's next-generation ERP suite. Built on in-memory HANA database. Enables real-time analytics, AI, and cloud deployment.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20040" y="3703320"/>
            <a:ext cx="8503920" cy="1097280"/>
          </a:xfrm>
          <a:prstGeom prst="roundRect">
            <a:avLst>
              <a:gd name="adj" fmla="val 6667"/>
            </a:avLst>
          </a:prstGeom>
          <a:solidFill>
            <a:srgbClr val="E8F4F8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3767328"/>
            <a:ext cx="83210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Automotive?  </a:t>
            </a:r>
            <a:pPr indent="0" marL="0">
              <a:buNone/>
            </a:pPr>
            <a:r>
              <a:rPr lang="en-US" sz="120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Automotive companies manage millions of parts, global supply chains, thousands of dealers, and complex financial reporting across dozens of countries. SAP S/4HANA unifies all of this on a single platform — replacing dozens of disconnected legacy systems.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45720"/>
            <a:ext cx="8412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Beginner Task  —  Toyota: Investor Relations Research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365760" y="658368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global.toyota/en/ir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20040" y="1051560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Research Steps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20040" y="1435608"/>
            <a:ext cx="347472" cy="347472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1435608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49808" y="1417320"/>
            <a:ext cx="3566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Opened Toyota's Investor Relations page at global.toyota/en/ir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0040" y="2093976"/>
            <a:ext cx="347472" cy="347472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" y="2093976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49808" y="2075688"/>
            <a:ext cx="3566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Searched keyword "SAP" in annual reports &amp; press releases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20040" y="2752344"/>
            <a:ext cx="347472" cy="347472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0040" y="2752344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749808" y="2734056"/>
            <a:ext cx="3566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Cross-referenced SAP news releases and IBM partnership announcements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20040" y="3410712"/>
            <a:ext cx="347472" cy="347472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0040" y="3410712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749808" y="3392424"/>
            <a:ext cx="3566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Recorded findings below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480560" y="1024128"/>
            <a:ext cx="4343400" cy="3822192"/>
          </a:xfrm>
          <a:prstGeom prst="roundRect">
            <a:avLst>
              <a:gd name="adj" fmla="val 2392"/>
            </a:avLst>
          </a:prstGeom>
          <a:solidFill>
            <a:srgbClr val="F0F6F8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3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572000" y="1078992"/>
            <a:ext cx="4160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Findings — Toyota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617720" y="1463040"/>
            <a:ext cx="4114800" cy="3246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Implemented SAP S/4HANA as the backbone of a new company-wide accounting information system to standardize financial reporting across its global group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Toyota South Africa Motors completed two major S/4HANA upgrades with IBM in 2025 — vehicle management system and HR/payroll modernization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Toyota Vietnam deployed SAP S/4HANA with FPT IS in 2024 as the foundation for all future digital transformation projects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IBM is now working on Phase 3: parts management system upgrade, also powered by SAP S/4HANA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Migration strategy: Brownfield (preserve existing processes while upgrading) — minimized disruption, met deadlines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20040" y="4498848"/>
            <a:ext cx="4023360" cy="502920"/>
          </a:xfrm>
          <a:prstGeom prst="roundRect">
            <a:avLst>
              <a:gd name="adj" fmla="val 14545"/>
            </a:avLst>
          </a:prstGeom>
          <a:solidFill>
            <a:srgbClr val="E8871E"/>
          </a:solidFill>
          <a:ln w="12700">
            <a:solidFill>
              <a:srgbClr val="E8871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11480" y="452628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Toyota uses SAP S/4HANA globally for finance, HR, supply chain &amp; parts management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841248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Intermediate Task  —  Company Comparison: Toyota vs Volkswagen vs Tata Motors</a:t>
            </a:r>
            <a:endParaRPr lang="en-US" sz="18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051560"/>
          <a:ext cx="8503920" cy="914400"/>
        </p:xfrm>
        <a:graphic>
          <a:graphicData uri="http://schemas.openxmlformats.org/drawingml/2006/table">
            <a:tbl>
              <a:tblPr/>
              <a:tblGrid>
                <a:gridCol w="1417320"/>
                <a:gridCol w="3200400"/>
                <a:gridCol w="2103120"/>
                <a:gridCol w="192024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Company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SAP Usage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Business Goal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Outcome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Toyota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SAP S/4HANA — Finance, HR/Payroll, Vehicle Management, Parts. Brownfield upgrade. IBM as partner.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Unify global accounting, real-time inventory visibility, HR modernization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On-schedule delivery. Real-time visibility across factories &amp; dealerships.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Volkswagen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Group-wide SAP S/4HANA transformation from SAP Business Suite 7 via Transformation Factory. Natuvion as data migration partner.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Standardize ERP across all brands (VW, Audi, Porsche, Skoda). Future-proof ERP domain.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Strategic Transformation Factory established. Multi-year roadmap underway.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Tata Motors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4A6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SAP S/4HANA for ERP Financial (purchased 2020). Tata Technologies deployed S/4HANA for JLR (Halewood facility) in 2025 as part of IERP program.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Unify PLM, ERP &amp; MES ecosystems globally. Support Jaguar Land Rover's Reimagine strategy.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Digital thread across JLR's global network. Faster vehicle development cycle.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320040" y="4224528"/>
            <a:ext cx="8503920" cy="685800"/>
          </a:xfrm>
          <a:prstGeom prst="roundRect">
            <a:avLst>
              <a:gd name="adj" fmla="val 10667"/>
            </a:avLst>
          </a:prstGeom>
          <a:solidFill>
            <a:srgbClr val="E8F4F8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457200" y="4279392"/>
            <a:ext cx="8321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Pattern: </a:t>
            </a:r>
            <a:pPr indent="0" marL="0">
              <a:buNone/>
            </a:pPr>
            <a:r>
              <a:rPr lang="en-US" sz="110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three companies are migrating from legacy SAP ECC systems to SAP S/4HANA before the 2027 maintenance deadline. The shared goal is real-time data, standardized global processes, and a foundation for AI/cloud innovation.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841248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Company Deep Dive — Volkswagen Group SAP Transformation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1051560"/>
            <a:ext cx="2011680" cy="1325880"/>
          </a:xfrm>
          <a:prstGeom prst="roundRect">
            <a:avLst>
              <a:gd name="adj" fmla="val 6897"/>
            </a:avLst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1097280"/>
            <a:ext cx="2011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887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12+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320040" y="1737360"/>
            <a:ext cx="201168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SAP Business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Suite 7 systems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468880" y="1051560"/>
            <a:ext cx="2011680" cy="1325880"/>
          </a:xfrm>
          <a:prstGeom prst="roundRect">
            <a:avLst>
              <a:gd name="adj" fmla="val 6897"/>
            </a:avLst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468880" y="1097280"/>
            <a:ext cx="2011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887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Multi-</a:t>
            </a:r>
            <a:endParaRPr lang="en-US" sz="2400" dirty="0"/>
          </a:p>
          <a:p>
            <a:pPr algn="ctr" indent="0" marL="0">
              <a:buNone/>
            </a:pPr>
            <a:r>
              <a:rPr lang="en-US" sz="2400" b="1" dirty="0">
                <a:solidFill>
                  <a:srgbClr val="E887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year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2468880" y="1737360"/>
            <a:ext cx="201168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Transformation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timeline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617720" y="1051560"/>
            <a:ext cx="2011680" cy="1325880"/>
          </a:xfrm>
          <a:prstGeom prst="roundRect">
            <a:avLst>
              <a:gd name="adj" fmla="val 6897"/>
            </a:avLst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17720" y="1097280"/>
            <a:ext cx="2011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887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4617720" y="1737360"/>
            <a:ext cx="201168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Transformation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Factory approach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766560" y="1051560"/>
            <a:ext cx="2011680" cy="1325880"/>
          </a:xfrm>
          <a:prstGeom prst="roundRect">
            <a:avLst>
              <a:gd name="adj" fmla="val 6897"/>
            </a:avLst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766560" y="1097280"/>
            <a:ext cx="2011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887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2027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6766560" y="1737360"/>
            <a:ext cx="201168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SAP ECC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deadline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20040" y="2542032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Transformation Strategy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20040" y="2907792"/>
            <a:ext cx="4206240" cy="1965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an in-house SAP S/4HANA Transformation Factory — a dedicated internal unit acquiring long-term ERP expertise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Partnered with Natuvion for data migration, ETL (Extract–Transform–Load), and intelligent conversion of proprietary developments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Migrating all SAP Business Suite 7 systems across the entire Volkswagen Group — including Audi, Porsche, Skoda, SEAT brands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internal teams alongside external specialists to future-proof ERP operations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709160" y="2487168"/>
            <a:ext cx="4114800" cy="2423160"/>
          </a:xfrm>
          <a:prstGeom prst="roundRect">
            <a:avLst>
              <a:gd name="adj" fmla="val 377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3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00600" y="256032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Business Goals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846320" y="2926080"/>
            <a:ext cx="384048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Standardize ERP across all group brands on one platform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 real-time financial reporting with SAP HANA in-memory technology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Treasury &amp; risk management: replaced in-house developments with SAP standard functionality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 foundation for cloud and machine learning capabilities post-S/4HANA go-live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Comply with 2027 SAP ECC maintenance deadline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841248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SAP Modules Used in Automotive Industry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1097280"/>
            <a:ext cx="2697480" cy="1737360"/>
          </a:xfrm>
          <a:prstGeom prst="roundRect">
            <a:avLst>
              <a:gd name="adj" fmla="val 526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3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1097280"/>
            <a:ext cx="2697480" cy="475488"/>
          </a:xfrm>
          <a:prstGeom prst="roundRect">
            <a:avLst>
              <a:gd name="adj" fmla="val 19231"/>
            </a:avLst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1371600"/>
            <a:ext cx="2697480" cy="20116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1124712"/>
            <a:ext cx="2697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SAP FI/CO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20040" y="1371600"/>
            <a:ext cx="2697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 &amp; Controlling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11480" y="1627632"/>
            <a:ext cx="251460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accounting, cost center management, financial reporting. Used by Toyota to standardize group-wide accounting.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154680" y="1097280"/>
            <a:ext cx="2697480" cy="1737360"/>
          </a:xfrm>
          <a:prstGeom prst="roundRect">
            <a:avLst>
              <a:gd name="adj" fmla="val 526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3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154680" y="1097280"/>
            <a:ext cx="2697480" cy="475488"/>
          </a:xfrm>
          <a:prstGeom prst="roundRect">
            <a:avLst>
              <a:gd name="adj" fmla="val 19231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154680" y="1371600"/>
            <a:ext cx="2697480" cy="20116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154680" y="1124712"/>
            <a:ext cx="2697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SAP MM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154680" y="1371600"/>
            <a:ext cx="2697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Materials Management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3246120" y="1627632"/>
            <a:ext cx="251460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Procurement, purchase orders, inventory management, vendor management. Critical for parts supply chains.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989320" y="1097280"/>
            <a:ext cx="2697480" cy="1737360"/>
          </a:xfrm>
          <a:prstGeom prst="roundRect">
            <a:avLst>
              <a:gd name="adj" fmla="val 526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3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989320" y="1097280"/>
            <a:ext cx="2697480" cy="475488"/>
          </a:xfrm>
          <a:prstGeom prst="roundRect">
            <a:avLst>
              <a:gd name="adj" fmla="val 19231"/>
            </a:avLst>
          </a:prstGeom>
          <a:solidFill>
            <a:srgbClr val="E8871E"/>
          </a:solidFill>
          <a:ln w="12700">
            <a:solidFill>
              <a:srgbClr val="E8871E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989320" y="1371600"/>
            <a:ext cx="2697480" cy="201168"/>
          </a:xfrm>
          <a:prstGeom prst="rect">
            <a:avLst/>
          </a:prstGeom>
          <a:solidFill>
            <a:srgbClr val="E8871E"/>
          </a:solidFill>
          <a:ln w="12700">
            <a:solidFill>
              <a:srgbClr val="E8871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989320" y="1124712"/>
            <a:ext cx="2697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SAP SD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989320" y="1371600"/>
            <a:ext cx="2697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&amp; Distribution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6080760" y="1627632"/>
            <a:ext cx="251460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processing, vehicle sales, dealer management, customer invoicing. Covers factory-to-dealer pipeline.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320040" y="2971800"/>
            <a:ext cx="2697480" cy="1737360"/>
          </a:xfrm>
          <a:prstGeom prst="roundRect">
            <a:avLst>
              <a:gd name="adj" fmla="val 526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3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20040" y="2971800"/>
            <a:ext cx="2697480" cy="475488"/>
          </a:xfrm>
          <a:prstGeom prst="roundRect">
            <a:avLst>
              <a:gd name="adj" fmla="val 19231"/>
            </a:avLst>
          </a:prstGeom>
          <a:solidFill>
            <a:srgbClr val="4B5563"/>
          </a:solidFill>
          <a:ln w="12700">
            <a:solidFill>
              <a:srgbClr val="4B5563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20040" y="3246120"/>
            <a:ext cx="2697480" cy="201168"/>
          </a:xfrm>
          <a:prstGeom prst="rect">
            <a:avLst/>
          </a:prstGeom>
          <a:solidFill>
            <a:srgbClr val="4B5563"/>
          </a:solidFill>
          <a:ln w="12700">
            <a:solidFill>
              <a:srgbClr val="4B556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20040" y="2999232"/>
            <a:ext cx="2697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SAP PP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320040" y="3246120"/>
            <a:ext cx="2697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Planning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11480" y="3502152"/>
            <a:ext cx="251460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Manufacturing orders, production scheduling, shop floor control. Manages vehicle assembly line processes.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3154680" y="2971800"/>
            <a:ext cx="2697480" cy="1737360"/>
          </a:xfrm>
          <a:prstGeom prst="roundRect">
            <a:avLst>
              <a:gd name="adj" fmla="val 526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3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3154680" y="2971800"/>
            <a:ext cx="2697480" cy="475488"/>
          </a:xfrm>
          <a:prstGeom prst="roundRect">
            <a:avLst>
              <a:gd name="adj" fmla="val 19231"/>
            </a:avLst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154680" y="3246120"/>
            <a:ext cx="2697480" cy="201168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154680" y="2999232"/>
            <a:ext cx="2697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SAP HCM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3154680" y="3246120"/>
            <a:ext cx="2697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Capital Mgmt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3246120" y="3502152"/>
            <a:ext cx="251460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Payroll, personnel administration, talent management. Toyota South Africa modernized HR with S/4HANA HCM in 2025.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5989320" y="2971800"/>
            <a:ext cx="2697480" cy="1737360"/>
          </a:xfrm>
          <a:prstGeom prst="roundRect">
            <a:avLst>
              <a:gd name="adj" fmla="val 526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3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5989320" y="2971800"/>
            <a:ext cx="2697480" cy="475488"/>
          </a:xfrm>
          <a:prstGeom prst="roundRect">
            <a:avLst>
              <a:gd name="adj" fmla="val 19231"/>
            </a:avLst>
          </a:prstGeom>
          <a:solidFill>
            <a:srgbClr val="6B21A8"/>
          </a:solidFill>
          <a:ln w="12700">
            <a:solidFill>
              <a:srgbClr val="6B21A8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5989320" y="3246120"/>
            <a:ext cx="2697480" cy="201168"/>
          </a:xfrm>
          <a:prstGeom prst="rect">
            <a:avLst/>
          </a:prstGeom>
          <a:solidFill>
            <a:srgbClr val="6B21A8"/>
          </a:solidFill>
          <a:ln w="12700">
            <a:solidFill>
              <a:srgbClr val="6B21A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989320" y="2999232"/>
            <a:ext cx="2697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SAP SCM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5989320" y="3246120"/>
            <a:ext cx="2697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Supply Chain Mgmt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6080760" y="3502152"/>
            <a:ext cx="251460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supply chain visibility, logistics, demand planning. Enables real-time inventory optimization across plants.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841248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Advanced — Digital Transformation Journey with SAP S/4HANA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731520" y="1078992"/>
            <a:ext cx="822960" cy="822960"/>
          </a:xfrm>
          <a:prstGeom prst="ellipse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078992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1618488" y="1490472"/>
            <a:ext cx="347472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0040" y="2011680"/>
            <a:ext cx="1627632" cy="2697480"/>
          </a:xfrm>
          <a:prstGeom prst="roundRect">
            <a:avLst>
              <a:gd name="adj" fmla="val 561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3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0040" y="2011680"/>
            <a:ext cx="1627632" cy="36576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2057400"/>
            <a:ext cx="162763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Legacy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Assessment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393192" y="2615184"/>
            <a:ext cx="1481328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existing SAP ECC systems, identify gaps, plan migration strategy (Greenfield vs Brownfield)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432304" y="1078992"/>
            <a:ext cx="822960" cy="82296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432304" y="1078992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3319272" y="1490472"/>
            <a:ext cx="347472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020824" y="2011680"/>
            <a:ext cx="1627632" cy="2697480"/>
          </a:xfrm>
          <a:prstGeom prst="roundRect">
            <a:avLst>
              <a:gd name="adj" fmla="val 561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3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020824" y="2011680"/>
            <a:ext cx="1627632" cy="36576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020824" y="2057400"/>
            <a:ext cx="162763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Migration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2093976" y="2615184"/>
            <a:ext cx="1481328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ETL processes: extract data from old systems, transform for S/4HANA format, load and validate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133088" y="1078992"/>
            <a:ext cx="822960" cy="822960"/>
          </a:xfrm>
          <a:prstGeom prst="ellipse">
            <a:avLst/>
          </a:prstGeom>
          <a:solidFill>
            <a:srgbClr val="E8871E"/>
          </a:solidFill>
          <a:ln w="12700">
            <a:solidFill>
              <a:srgbClr val="E8871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133088" y="1078992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5020056" y="1490472"/>
            <a:ext cx="347472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721608" y="2011680"/>
            <a:ext cx="1627632" cy="2697480"/>
          </a:xfrm>
          <a:prstGeom prst="roundRect">
            <a:avLst>
              <a:gd name="adj" fmla="val 561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3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721608" y="2011680"/>
            <a:ext cx="1627632" cy="36576"/>
          </a:xfrm>
          <a:prstGeom prst="rect">
            <a:avLst/>
          </a:prstGeom>
          <a:solidFill>
            <a:srgbClr val="E8871E"/>
          </a:solidFill>
          <a:ln w="12700">
            <a:solidFill>
              <a:srgbClr val="E8871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721608" y="2057400"/>
            <a:ext cx="162763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E887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Process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E887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Standardization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3794760" y="2615184"/>
            <a:ext cx="1481328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Redesign business processes to SAP best practices. Remove custom code where possible.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833872" y="1078992"/>
            <a:ext cx="822960" cy="822960"/>
          </a:xfrm>
          <a:prstGeom prst="ellipse">
            <a:avLst/>
          </a:prstGeom>
          <a:solidFill>
            <a:srgbClr val="4B5563"/>
          </a:solidFill>
          <a:ln w="12700">
            <a:solidFill>
              <a:srgbClr val="4B556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833872" y="1078992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27" name="Shape 25"/>
          <p:cNvSpPr/>
          <p:nvPr/>
        </p:nvSpPr>
        <p:spPr>
          <a:xfrm>
            <a:off x="6720840" y="1490472"/>
            <a:ext cx="347472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422392" y="2011680"/>
            <a:ext cx="1627632" cy="2697480"/>
          </a:xfrm>
          <a:prstGeom prst="roundRect">
            <a:avLst>
              <a:gd name="adj" fmla="val 561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3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5422392" y="2011680"/>
            <a:ext cx="1627632" cy="36576"/>
          </a:xfrm>
          <a:prstGeom prst="rect">
            <a:avLst/>
          </a:prstGeom>
          <a:solidFill>
            <a:srgbClr val="4B5563"/>
          </a:solidFill>
          <a:ln w="12700">
            <a:solidFill>
              <a:srgbClr val="4B5563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422392" y="2057400"/>
            <a:ext cx="162763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4B55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Go-Live &amp;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4B55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Stabilize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5495544" y="2615184"/>
            <a:ext cx="1481328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Cut-over to S/4HANA, hypercare support period, user training, incident management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7534656" y="1078992"/>
            <a:ext cx="822960" cy="82296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534656" y="1078992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000" dirty="0"/>
          </a:p>
        </p:txBody>
      </p:sp>
      <p:sp>
        <p:nvSpPr>
          <p:cNvPr id="34" name="Shape 32"/>
          <p:cNvSpPr/>
          <p:nvPr/>
        </p:nvSpPr>
        <p:spPr>
          <a:xfrm>
            <a:off x="7123176" y="2011680"/>
            <a:ext cx="1627632" cy="2697480"/>
          </a:xfrm>
          <a:prstGeom prst="roundRect">
            <a:avLst>
              <a:gd name="adj" fmla="val 561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3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7123176" y="2011680"/>
            <a:ext cx="1627632" cy="36576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123176" y="2057400"/>
            <a:ext cx="162763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&amp; Cloud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Innovation</a:t>
            </a:r>
            <a:endParaRPr lang="en-US" sz="1150" dirty="0"/>
          </a:p>
        </p:txBody>
      </p:sp>
      <p:sp>
        <p:nvSpPr>
          <p:cNvPr id="37" name="Text 35"/>
          <p:cNvSpPr/>
          <p:nvPr/>
        </p:nvSpPr>
        <p:spPr>
          <a:xfrm>
            <a:off x="7196328" y="2615184"/>
            <a:ext cx="1481328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Leverage cloud, machine learning, SAP BTP, embedded analytics post-S/4HANA go-live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320040" y="4773168"/>
            <a:ext cx="8503920" cy="201168"/>
          </a:xfrm>
          <a:prstGeom prst="roundRect">
            <a:avLst>
              <a:gd name="adj" fmla="val 27273"/>
            </a:avLst>
          </a:prstGeom>
          <a:solidFill>
            <a:srgbClr val="E8F4F8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11480" y="4791456"/>
            <a:ext cx="83210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Volkswagen chose Brownfield (phases 2-4 preserve existing processes) · Toyota used Brownfield for South Africa · Tata Technologies used 6-month Greenfield for JLR Halewood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E8871E"/>
          </a:solidFill>
          <a:ln w="12700">
            <a:solidFill>
              <a:srgbClr val="E8871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841248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Learnings &amp; Real-World Insights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1097280"/>
            <a:ext cx="2697480" cy="1783080"/>
          </a:xfrm>
          <a:prstGeom prst="roundRect">
            <a:avLst>
              <a:gd name="adj" fmla="val 5128"/>
            </a:avLst>
          </a:prstGeom>
          <a:solidFill>
            <a:srgbClr val="F0F6F8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3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11480" y="1188720"/>
            <a:ext cx="2514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💡  SAP is Universal in Automotive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11480" y="1645920"/>
            <a:ext cx="2514600" cy="11704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major OEM — Toyota, Volkswagen, Tata, BMW, Mercedes — runs SAP. It is the industry standard, not optional.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154680" y="1097280"/>
            <a:ext cx="2697480" cy="1783080"/>
          </a:xfrm>
          <a:prstGeom prst="roundRect">
            <a:avLst>
              <a:gd name="adj" fmla="val 5128"/>
            </a:avLst>
          </a:prstGeom>
          <a:solidFill>
            <a:srgbClr val="F0F6F8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3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246120" y="1188720"/>
            <a:ext cx="2514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📅  2027 is the Critical Deadline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246120" y="1645920"/>
            <a:ext cx="2514600" cy="11704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SAP ECC maintenance ends in 2027. All companies must migrate to S/4HANA or risk running unpatched, unsupported software.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989320" y="1097280"/>
            <a:ext cx="2697480" cy="1783080"/>
          </a:xfrm>
          <a:prstGeom prst="roundRect">
            <a:avLst>
              <a:gd name="adj" fmla="val 5128"/>
            </a:avLst>
          </a:prstGeom>
          <a:solidFill>
            <a:srgbClr val="F0F6F8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3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080760" y="1188720"/>
            <a:ext cx="2514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🔗  Integration is the Core Value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080760" y="1645920"/>
            <a:ext cx="2514600" cy="11704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SAP's power is not one module — it's all modules talking to each other in real time: Finance ↔ Supply Chain ↔ Manufacturing ↔ HR.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20040" y="3017520"/>
            <a:ext cx="2697480" cy="1783080"/>
          </a:xfrm>
          <a:prstGeom prst="roundRect">
            <a:avLst>
              <a:gd name="adj" fmla="val 5128"/>
            </a:avLst>
          </a:prstGeom>
          <a:solidFill>
            <a:srgbClr val="F0F6F8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3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11480" y="3108960"/>
            <a:ext cx="2514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🌐  Global + Local Strategy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11480" y="3566160"/>
            <a:ext cx="2514600" cy="11704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Companies implement globally (one ERP standard) but configure locally (country tax laws, languages, local processes).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154680" y="3017520"/>
            <a:ext cx="2697480" cy="1783080"/>
          </a:xfrm>
          <a:prstGeom prst="roundRect">
            <a:avLst>
              <a:gd name="adj" fmla="val 5128"/>
            </a:avLst>
          </a:prstGeom>
          <a:solidFill>
            <a:srgbClr val="F0F6F8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3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3246120" y="3108960"/>
            <a:ext cx="2514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🤖  AI is the Next Step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246120" y="3566160"/>
            <a:ext cx="2514600" cy="11704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S/4HANA go-live, companies add embedded analytics, machine learning (demand forecasting, predictive maintenance), and SAP BTP.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989320" y="3017520"/>
            <a:ext cx="2697480" cy="1783080"/>
          </a:xfrm>
          <a:prstGeom prst="roundRect">
            <a:avLst>
              <a:gd name="adj" fmla="val 5128"/>
            </a:avLst>
          </a:prstGeom>
          <a:solidFill>
            <a:srgbClr val="F0F6F8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3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080760" y="3108960"/>
            <a:ext cx="2514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👷  SAP Skills are High-Demand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080760" y="3566160"/>
            <a:ext cx="2514600" cy="11704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IBM has 18,000+ certified SAP consultants. Tata Technologies built an SAP practice as a revenue stream. SAP expertise is a career.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731520" y="2286000"/>
            <a:ext cx="3200400" cy="3200400"/>
          </a:xfrm>
          <a:prstGeom prst="ellipse">
            <a:avLst/>
          </a:prstGeom>
          <a:solidFill>
            <a:srgbClr val="028090">
              <a:alpha val="20000"/>
            </a:srgbClr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Sources &amp; Next Steps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3200400" cy="36576"/>
          </a:xfrm>
          <a:prstGeom prst="rect">
            <a:avLst/>
          </a:prstGeom>
          <a:solidFill>
            <a:srgbClr val="E8871E"/>
          </a:solidFill>
          <a:ln w="12700">
            <a:solidFill>
              <a:srgbClr val="E8871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024128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87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Sources Referenced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1417320"/>
            <a:ext cx="484632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SAP Africa News Center — Toyota South Africa S/4HANA upgrades (Nov 2025)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SAP News — Toyota drives efficiency with SAP S/4HANA and SAP HANA (2018)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Toyota Investor Relations — global.toyota/en/ir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Natuvion — Volkswagen SAP S/4HANA Transformation Factory (Apr &amp; Sep 2025)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AppsRunTheWorld — Tata Motors SAP S/4HANA ERP Financial purchase (2020)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Tata Technologies — JLR SAP S/4HANA Halewood deployment (2025)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LinkedIn / SAP Industry articles — Automotive S/4HANA overview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5486400" y="1005840"/>
            <a:ext cx="3337560" cy="3840480"/>
          </a:xfrm>
          <a:prstGeom prst="roundRect">
            <a:avLst>
              <a:gd name="adj" fmla="val 3288"/>
            </a:avLst>
          </a:prstGeom>
          <a:solidFill>
            <a:srgbClr val="112233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577840" y="1078992"/>
            <a:ext cx="3154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87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Your Next Steps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577840" y="1463040"/>
            <a:ext cx="315468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this PowerPoint to your GitHub repository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 RISE with SAP — SAP's cloud ERP subscription program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SAP on AWS (many companies host S/4HANA on AWS EC2 + RDS)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 into SAP BTP (Business Technology Platform) for cloud integration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 how DevOps/CI-CD pipelines are used in SAP transport management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480060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Automotive Industry Digital Transformation Using SAP  ·  Badger  ·  2026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Automotive Industry Digital Transformation Using SAP</dc:title>
  <dc:subject>PptxGenJS Presentation</dc:subject>
  <dc:creator>Badger</dc:creator>
  <cp:lastModifiedBy>Badger</cp:lastModifiedBy>
  <cp:revision>1</cp:revision>
  <dcterms:created xsi:type="dcterms:W3CDTF">2026-06-17T07:25:48Z</dcterms:created>
  <dcterms:modified xsi:type="dcterms:W3CDTF">2026-06-17T07:25:48Z</dcterms:modified>
</cp:coreProperties>
</file>